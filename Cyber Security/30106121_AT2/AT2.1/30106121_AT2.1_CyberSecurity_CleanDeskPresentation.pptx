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3"/>
  </p:notesMasterIdLst>
  <p:sldIdLst>
    <p:sldId id="292" r:id="rId5"/>
    <p:sldId id="310" r:id="rId6"/>
    <p:sldId id="317" r:id="rId7"/>
    <p:sldId id="312" r:id="rId8"/>
    <p:sldId id="316" r:id="rId9"/>
    <p:sldId id="311" r:id="rId10"/>
    <p:sldId id="313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2A3AB-2F0D-4566-8D7E-4DB18AB71F71}" type="datetimeFigureOut">
              <a:rPr lang="en-AU" smtClean="0"/>
              <a:t>13/11/2025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A6F20-89E0-4402-92C3-544221507DD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887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A6F20-89E0-4402-92C3-544221507DDC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327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B9ECD-58CB-0839-CEBA-EA373290C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8F905-B566-6B2F-0229-180F186F1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CA355-E1A7-639D-C2F1-3DD9BDE2A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CF049-2087-BE8F-5EE7-11D74938AC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A6F20-89E0-4402-92C3-544221507DDC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6597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750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318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58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950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14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70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61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531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11/13/2025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08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0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2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BA1780-A246-4C7F-9267-727EF2F4E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5000"/>
          </a:blip>
          <a:srcRect t="3846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7398C-75E5-4CB0-BA4F-D7D5CF2495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</p:spPr>
        <p:txBody>
          <a:bodyPr>
            <a:normAutofit/>
          </a:bodyPr>
          <a:lstStyle/>
          <a:p>
            <a:r>
              <a:rPr lang="en-AU"/>
              <a:t>Clean Desk Policy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BFB45-FC34-495C-9C68-F9641246C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AU">
                <a:solidFill>
                  <a:schemeClr val="tx1"/>
                </a:solidFill>
              </a:rPr>
              <a:t>Maintaining a Secure Workspace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2082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8632963-757B-40C2-BB84-FC6107A54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omputer on a table">
            <a:extLst>
              <a:ext uri="{FF2B5EF4-FFF2-40B4-BE49-F238E27FC236}">
                <a16:creationId xmlns:a16="http://schemas.microsoft.com/office/drawing/2014/main" id="{647EF446-10B7-36B1-E944-F91C2527C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6" b="14804"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853AE55-7E35-44B0-89F1-3F52B262A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615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C4BE4D-4B50-4F51-9F85-4B5D60B02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448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FDB6E-D88F-6B8E-3ECC-26EE05D91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43" y="727626"/>
            <a:ext cx="4602152" cy="1718225"/>
          </a:xfrm>
        </p:spPr>
        <p:txBody>
          <a:bodyPr>
            <a:normAutofit/>
          </a:bodyPr>
          <a:lstStyle/>
          <a:p>
            <a:r>
              <a:rPr lang="en-AU" sz="44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8A91E-7DF9-EC3D-EEAE-A7C0142E8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43" y="2538920"/>
            <a:ext cx="4602152" cy="3480066"/>
          </a:xfrm>
        </p:spPr>
        <p:txBody>
          <a:bodyPr>
            <a:normAutofit/>
          </a:bodyPr>
          <a:lstStyle/>
          <a:p>
            <a:r>
              <a:rPr lang="en-US"/>
              <a:t>A clean workspace prevents theft and unauthorized access</a:t>
            </a:r>
          </a:p>
          <a:p>
            <a:r>
              <a:rPr lang="en-US"/>
              <a:t>Support staff handle sensitive information daily</a:t>
            </a:r>
          </a:p>
          <a:p>
            <a:r>
              <a:rPr lang="en-US"/>
              <a:t>Good desk habits protect company data and reduce risk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911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666C8-1431-15F9-D43D-41012AD6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DC84DE5-55F6-BD41-D0CF-C35A62064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98433-355E-3071-F671-AA7107976D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7781" b="5611"/>
          <a:stretch>
            <a:fillRect/>
          </a:stretch>
        </p:blipFill>
        <p:spPr>
          <a:xfrm>
            <a:off x="20" y="-1"/>
            <a:ext cx="12191980" cy="685799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7F84C44-A619-2646-62A9-C59CB9343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39709" y="253548"/>
            <a:ext cx="5612193" cy="63615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8E9893-425E-C9C7-B239-6B6272BE5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7542" y="407588"/>
            <a:ext cx="5299768" cy="6022878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3E2AE3-B300-0592-484A-DCBDAFEE8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6137" y="727626"/>
            <a:ext cx="4602152" cy="1718225"/>
          </a:xfrm>
        </p:spPr>
        <p:txBody>
          <a:bodyPr>
            <a:normAutofit/>
          </a:bodyPr>
          <a:lstStyle/>
          <a:p>
            <a:r>
              <a:rPr lang="en-AU" sz="4400" dirty="0"/>
              <a:t>Why This Policy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9DCBC-EBB1-BB0D-D451-F9C5308BE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6137" y="2538920"/>
            <a:ext cx="4602152" cy="3480066"/>
          </a:xfrm>
        </p:spPr>
        <p:txBody>
          <a:bodyPr>
            <a:normAutofit/>
          </a:bodyPr>
          <a:lstStyle/>
          <a:p>
            <a:r>
              <a:rPr lang="en-US" dirty="0"/>
              <a:t>Keeping desks free of documents and devices reduces the chance of data exposure. </a:t>
            </a:r>
          </a:p>
          <a:p>
            <a:r>
              <a:rPr lang="en-US" dirty="0"/>
              <a:t>If staff leave confidential information visible or unattended, it can result in </a:t>
            </a:r>
          </a:p>
          <a:p>
            <a:r>
              <a:rPr lang="en-US" dirty="0"/>
              <a:t> - data breaches</a:t>
            </a:r>
          </a:p>
          <a:p>
            <a:r>
              <a:rPr lang="en-US" dirty="0"/>
              <a:t> - loss of equipment</a:t>
            </a:r>
          </a:p>
          <a:p>
            <a:r>
              <a:rPr lang="en-US" dirty="0"/>
              <a:t> - reputational damage</a:t>
            </a:r>
          </a:p>
          <a:p>
            <a:r>
              <a:rPr lang="en-US" dirty="0"/>
              <a:t> -  or disciplinary action.</a:t>
            </a:r>
          </a:p>
        </p:txBody>
      </p:sp>
    </p:spTree>
    <p:extLst>
      <p:ext uri="{BB962C8B-B14F-4D97-AF65-F5344CB8AC3E}">
        <p14:creationId xmlns:p14="http://schemas.microsoft.com/office/powerpoint/2010/main" val="376699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A9B04-7BF8-6A4C-2F17-525F67D56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7A0BE6-9362-545D-A9E0-E295CAFA66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D64F326-929E-45E2-B54D-DC7E1720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FCDFD7-7B3B-4ED9-B533-34D0B3724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9ED32-9A9D-86D7-8D1C-1DB602B0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51" y="1352277"/>
            <a:ext cx="4633416" cy="1371600"/>
          </a:xfrm>
        </p:spPr>
        <p:txBody>
          <a:bodyPr>
            <a:normAutofit/>
          </a:bodyPr>
          <a:lstStyle/>
          <a:p>
            <a:r>
              <a:rPr lang="en-AU" sz="4000"/>
              <a:t>Policy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57B48-0D97-DD94-73ED-83E3796EC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950" y="2852792"/>
            <a:ext cx="4633415" cy="2572193"/>
          </a:xfrm>
        </p:spPr>
        <p:txBody>
          <a:bodyPr>
            <a:normAutofit/>
          </a:bodyPr>
          <a:lstStyle/>
          <a:p>
            <a:r>
              <a:rPr lang="en-US" dirty="0"/>
              <a:t>All workspaces must remain tidy and secure</a:t>
            </a:r>
          </a:p>
          <a:p>
            <a:r>
              <a:rPr lang="en-US" dirty="0"/>
              <a:t>Sensitive materials must be properly stored</a:t>
            </a:r>
          </a:p>
          <a:p>
            <a:r>
              <a:rPr lang="en-US" dirty="0"/>
              <a:t>Workstations must be locked when unattended</a:t>
            </a:r>
          </a:p>
          <a:p>
            <a:r>
              <a:rPr lang="en-US" dirty="0"/>
              <a:t>Printed documents should be collected immediately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174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C909A-99F5-7134-820F-B5FAD945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on a table">
            <a:extLst>
              <a:ext uri="{FF2B5EF4-FFF2-40B4-BE49-F238E27FC236}">
                <a16:creationId xmlns:a16="http://schemas.microsoft.com/office/drawing/2014/main" id="{6BDAB75E-26B7-EF29-F10D-6DC9B520F4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6" r="-1" b="14793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D64F326-929E-45E2-B54D-DC7E1720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0224" y="941695"/>
            <a:ext cx="5452527" cy="497461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FCDFD7-7B3B-4ED9-B533-34D0B3724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6167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32EA96-D11D-90B2-3E58-0B9122AE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846" y="1352277"/>
            <a:ext cx="4633416" cy="1371600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chemeClr val="tx1"/>
                </a:solidFill>
              </a:rPr>
              <a:t>Secure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0E065-C7CF-D79C-5C59-BED7831EC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845" y="2852792"/>
            <a:ext cx="4633415" cy="2572193"/>
          </a:xfrm>
        </p:spPr>
        <p:txBody>
          <a:bodyPr>
            <a:normAutofit/>
          </a:bodyPr>
          <a:lstStyle/>
          <a:p>
            <a:r>
              <a:rPr lang="en-US" dirty="0"/>
              <a:t>Use locked drawers, cabinets, or safes</a:t>
            </a:r>
          </a:p>
          <a:p>
            <a:r>
              <a:rPr lang="en-US" dirty="0"/>
              <a:t>Never leave notebooks or documents unattended</a:t>
            </a:r>
          </a:p>
          <a:p>
            <a:r>
              <a:rPr lang="en-US" dirty="0"/>
              <a:t>Mobile devices must stay with you or be locked away</a:t>
            </a:r>
          </a:p>
          <a:p>
            <a:r>
              <a:rPr lang="en-US" dirty="0"/>
              <a:t>Computers must be locked or shut down when not in use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6784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507A7-88CC-1367-5746-27B9A4714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in an office&#10;&#10;AI-generated content may be incorrect.">
            <a:extLst>
              <a:ext uri="{FF2B5EF4-FFF2-40B4-BE49-F238E27FC236}">
                <a16:creationId xmlns:a16="http://schemas.microsoft.com/office/drawing/2014/main" id="{B2FAFADE-FB65-45B7-D57B-452BC3A938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08" r="-1" b="3000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CD64F326-929E-45E2-B54D-DC7E1720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941695"/>
            <a:ext cx="5452527" cy="497461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FCDFD7-7B3B-4ED9-B533-34D0B3724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B9714-A940-A8FC-C0E6-CCFC97986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51" y="1352277"/>
            <a:ext cx="4633416" cy="1371600"/>
          </a:xfrm>
        </p:spPr>
        <p:txBody>
          <a:bodyPr>
            <a:normAutofit/>
          </a:bodyPr>
          <a:lstStyle/>
          <a:p>
            <a:r>
              <a:rPr lang="en-AU" sz="4000" dirty="0"/>
              <a:t>Printing and Disposal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7748-ABA7-E27F-B132-A6A019216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950" y="2852792"/>
            <a:ext cx="4633415" cy="2572193"/>
          </a:xfrm>
        </p:spPr>
        <p:txBody>
          <a:bodyPr>
            <a:normAutofit/>
          </a:bodyPr>
          <a:lstStyle/>
          <a:p>
            <a:r>
              <a:rPr lang="en-US" dirty="0"/>
              <a:t>Retrieve printed confidential documents immediately</a:t>
            </a:r>
          </a:p>
          <a:p>
            <a:r>
              <a:rPr lang="en-US" dirty="0"/>
              <a:t>Never place sensitive papers in normal waste bins</a:t>
            </a:r>
          </a:p>
          <a:p>
            <a:r>
              <a:rPr lang="en-US" dirty="0"/>
              <a:t>Use shredders or confidential disposal bins only</a:t>
            </a:r>
          </a:p>
          <a:p>
            <a:r>
              <a:rPr lang="en-US" dirty="0"/>
              <a:t>Clean whiteboards after meetings</a:t>
            </a:r>
          </a:p>
        </p:txBody>
      </p:sp>
    </p:spTree>
    <p:extLst>
      <p:ext uri="{BB962C8B-B14F-4D97-AF65-F5344CB8AC3E}">
        <p14:creationId xmlns:p14="http://schemas.microsoft.com/office/powerpoint/2010/main" val="2573629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B0E1BF-5284-D1F1-8533-664AD37CC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7D3334-9114-6805-7579-C07CFC8F2F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"/>
          <a:stretch>
            <a:fillRect/>
          </a:stretch>
        </p:blipFill>
        <p:spPr>
          <a:xfrm>
            <a:off x="3048" y="10"/>
            <a:ext cx="12188952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D64F326-929E-45E2-B54D-DC7E17207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0224" y="941695"/>
            <a:ext cx="5452527" cy="497461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FCDFD7-7B3B-4ED9-B533-34D0B3724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6167" y="1106424"/>
            <a:ext cx="5120640" cy="464515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AFB45-E076-132D-0F46-3EE9E8B21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846" y="1352277"/>
            <a:ext cx="4633416" cy="1371600"/>
          </a:xfrm>
        </p:spPr>
        <p:txBody>
          <a:bodyPr>
            <a:normAutofit/>
          </a:bodyPr>
          <a:lstStyle/>
          <a:p>
            <a:r>
              <a:rPr lang="en-AU" sz="4000">
                <a:solidFill>
                  <a:schemeClr val="tx1"/>
                </a:solidFill>
              </a:rPr>
              <a:t>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07DA-54FF-5471-D8EC-5E5CCF7AF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0845" y="2852792"/>
            <a:ext cx="4633415" cy="2572193"/>
          </a:xfrm>
        </p:spPr>
        <p:txBody>
          <a:bodyPr>
            <a:normAutofit/>
          </a:bodyPr>
          <a:lstStyle/>
          <a:p>
            <a:r>
              <a:rPr lang="en-US" dirty="0"/>
              <a:t>Regular walkthroughs and inspections</a:t>
            </a:r>
          </a:p>
          <a:p>
            <a:r>
              <a:rPr lang="en-US" dirty="0"/>
              <a:t>Possible spot checks</a:t>
            </a:r>
          </a:p>
          <a:p>
            <a:r>
              <a:rPr lang="en-US" dirty="0"/>
              <a:t>Reporting mechanisms for issues</a:t>
            </a:r>
          </a:p>
          <a:p>
            <a:r>
              <a:rPr lang="en-US" dirty="0"/>
              <a:t>Repeated non-compliance may lead to further action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33266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people in an office&#10;&#10;AI-generated content may be incorrect.">
            <a:extLst>
              <a:ext uri="{FF2B5EF4-FFF2-40B4-BE49-F238E27FC236}">
                <a16:creationId xmlns:a16="http://schemas.microsoft.com/office/drawing/2014/main" id="{E1F3C3E9-5F83-3173-5AAF-31CFB7FC3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19" b="3012"/>
          <a:stretch>
            <a:fillRect/>
          </a:stretch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494385-F2CF-5B93-0D89-EC18CD132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AU" dirty="0">
                <a:latin typeface="+mn-lt"/>
              </a:rPr>
              <a:t>Thanks For listening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4655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Sagona Extra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agona Book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Marquee">
    <a:dk1>
      <a:srgbClr val="000000"/>
    </a:dk1>
    <a:lt1>
      <a:sysClr val="window" lastClr="FFFFFF"/>
    </a:lt1>
    <a:dk2>
      <a:srgbClr val="5E5E5E"/>
    </a:dk2>
    <a:lt2>
      <a:srgbClr val="DDDDDD"/>
    </a:lt2>
    <a:accent1>
      <a:srgbClr val="418AB3"/>
    </a:accent1>
    <a:accent2>
      <a:srgbClr val="A6B727"/>
    </a:accent2>
    <a:accent3>
      <a:srgbClr val="F69200"/>
    </a:accent3>
    <a:accent4>
      <a:srgbClr val="838383"/>
    </a:accent4>
    <a:accent5>
      <a:srgbClr val="FEC306"/>
    </a:accent5>
    <a:accent6>
      <a:srgbClr val="DF5327"/>
    </a:accent6>
    <a:hlink>
      <a:srgbClr val="F59E00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DB95DD-0319-4EE5-8C5C-9CEDF75E02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F3B215-496E-4790-A364-7C1C46DEC7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E2713E1-6312-427E-BFCB-C5A5DA3013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{58450DE9-0BB7-4499-81AE-855649D26631}tf78829772_win32</Template>
  <TotalTime>17</TotalTime>
  <Words>196</Words>
  <Application>Microsoft Office PowerPoint</Application>
  <PresentationFormat>Widescreen</PresentationFormat>
  <Paragraphs>36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Garamond</vt:lpstr>
      <vt:lpstr>Sagona Book</vt:lpstr>
      <vt:lpstr>Sagona ExtraLight</vt:lpstr>
      <vt:lpstr>SavonVTI</vt:lpstr>
      <vt:lpstr>Clean Desk Policy</vt:lpstr>
      <vt:lpstr>Introduction</vt:lpstr>
      <vt:lpstr>Why This Policy Matters</vt:lpstr>
      <vt:lpstr>Policy Summary</vt:lpstr>
      <vt:lpstr>Secure Storage</vt:lpstr>
      <vt:lpstr>Printing and Disposal</vt:lpstr>
      <vt:lpstr>Compliance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 Bailey</dc:creator>
  <cp:lastModifiedBy>Sam Bailey</cp:lastModifiedBy>
  <cp:revision>3</cp:revision>
  <dcterms:created xsi:type="dcterms:W3CDTF">2025-10-30T06:34:29Z</dcterms:created>
  <dcterms:modified xsi:type="dcterms:W3CDTF">2025-11-13T06:08:51Z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